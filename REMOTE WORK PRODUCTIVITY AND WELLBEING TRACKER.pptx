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5"/>
  </p:notesMasterIdLst>
  <p:sldIdLst>
    <p:sldId id="256" r:id="rId3"/>
    <p:sldId id="571" r:id="rId4"/>
    <p:sldId id="572" r:id="rId5"/>
    <p:sldId id="573" r:id="rId6"/>
    <p:sldId id="574" r:id="rId7"/>
    <p:sldId id="575" r:id="rId8"/>
    <p:sldId id="580" r:id="rId9"/>
    <p:sldId id="581"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63" d="100"/>
          <a:sy n="63" d="100"/>
        </p:scale>
        <p:origin x="780" y="5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09-03-2026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09/03/2026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ahilPatil756/REMOTE-WORK-PRODUCTIVITY-AND-WELLBEING-TRACKER.git" TargetMode="External"/><Relationship Id="rId2" Type="http://schemas.openxmlformats.org/officeDocument/2006/relationships/hyperlink" Target="https://www.kaggle.com/datasets/waqi786/remote-work-and-mental-health"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94127" y="1232488"/>
            <a:ext cx="4746772" cy="2506766"/>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8000" b="1" dirty="0"/>
              <a:t>REMOTE WORK PRODUCTIVITY AND WELLBEING TRACKER</a:t>
            </a:r>
            <a:endParaRPr lang="en-US" sz="8000" b="1"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sahil Jagannath patil</a:t>
            </a:r>
          </a:p>
          <a:p>
            <a:pPr algn="l">
              <a:spcAft>
                <a:spcPts val="600"/>
              </a:spcAft>
            </a:pPr>
            <a:r>
              <a:rPr lang="en-US" sz="1600" b="1" cap="all" dirty="0"/>
              <a:t>College Name: </a:t>
            </a:r>
            <a:r>
              <a:rPr lang="en-US" sz="1600" b="1" cap="all" dirty="0" err="1"/>
              <a:t>ssvps</a:t>
            </a:r>
            <a:r>
              <a:rPr lang="en-US" sz="1600" b="1" cap="all" dirty="0"/>
              <a:t> collage of engineering</a:t>
            </a:r>
          </a:p>
          <a:p>
            <a:pPr algn="l">
              <a:spcAft>
                <a:spcPts val="600"/>
              </a:spcAft>
            </a:pPr>
            <a:r>
              <a:rPr lang="en-US" sz="1600" b="1" cap="all" dirty="0"/>
              <a:t>Department: computer science </a:t>
            </a:r>
          </a:p>
          <a:p>
            <a:pPr algn="l">
              <a:spcAft>
                <a:spcPts val="600"/>
              </a:spcAft>
            </a:pPr>
            <a:r>
              <a:rPr lang="en-US" sz="1600" b="1" cap="all" dirty="0"/>
              <a:t>Email ID: patilsahil756@gmail.com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pic>
        <p:nvPicPr>
          <p:cNvPr id="10" name="Picture 9">
            <a:extLst>
              <a:ext uri="{FF2B5EF4-FFF2-40B4-BE49-F238E27FC236}">
                <a16:creationId xmlns:a16="http://schemas.microsoft.com/office/drawing/2014/main" id="{DC5F3AD7-DD11-940C-D94C-EF7CB01124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09990" y="958482"/>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lgn="just">
              <a:buNone/>
            </a:pPr>
            <a:r>
              <a:rPr lang="en-US" sz="2200" dirty="0"/>
              <a:t>As remote and hybrid work models become the new norm, organizations face a critical challenge in understanding their impact on employee well-being and productivity. There is a lack of clear, data-driven insights into how factors like work location, job role, and industry affect key metrics such as stress levels, social isolation, and job satisfaction. Without a centralized tracking mechanism, it is difficult for HR professionals and business leaders to proactively address declining mental health, optimize work arrangements, and foster a supportive and productive work environment. The crucial part is to identify patterns and correlations within workforce data to enable data-informed decisions for improving employee wellbeing.</a:t>
            </a:r>
            <a:endParaRPr lang="en-IN" sz="2200" dirty="0">
              <a:latin typeface="Franklin Gothic Book" panose="020B0503020102020204"/>
            </a:endParaRPr>
          </a:p>
          <a:p>
            <a:pPr marL="0" indent="0">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4" y="1304306"/>
            <a:ext cx="11028045" cy="5248894"/>
          </a:xfrm>
        </p:spPr>
        <p:txBody>
          <a:bodyPr vert="horz" lIns="91440" tIns="45720" rIns="91440" bIns="45720" rtlCol="0" anchor="t">
            <a:noAutofit/>
          </a:bodyPr>
          <a:lstStyle/>
          <a:p>
            <a:pPr algn="just"/>
            <a:r>
              <a:rPr lang="en-US" sz="2000" dirty="0"/>
              <a:t>The proposed system, the "Remote Work Productivity and Wellbeing Tracker," is a Business Intelligence (BI) dashboard designed to monitor and analyze employee wellbeing across different work models. The solution provides a holistic view of key mental health and productivity indicators.</a:t>
            </a:r>
          </a:p>
          <a:p>
            <a:pPr marL="0" indent="0" algn="just">
              <a:buNone/>
            </a:pPr>
            <a:r>
              <a:rPr lang="en-US" sz="2000" b="1" dirty="0"/>
              <a:t>Key Components:</a:t>
            </a:r>
            <a:endParaRPr lang="en-US" sz="2000" dirty="0"/>
          </a:p>
          <a:p>
            <a:pPr algn="just"/>
            <a:r>
              <a:rPr lang="en-US" sz="2000" dirty="0"/>
              <a:t>Data Integration: Consolidate survey data (like the Kaggle dataset) on employee demographics, work location, stress levels, mental health conditions, and satisfaction ratings.</a:t>
            </a:r>
          </a:p>
          <a:p>
            <a:pPr algn="just"/>
            <a:r>
              <a:rPr lang="en-US" sz="2000" dirty="0"/>
              <a:t>Interactive Dashboards: Develop a user-friendly Power BI interface that allows HR and management to:</a:t>
            </a:r>
          </a:p>
          <a:p>
            <a:pPr lvl="1" algn="just"/>
            <a:r>
              <a:rPr lang="en-US" sz="2000" dirty="0"/>
              <a:t>Monitor KPIs: Track overall stress levels, satisfaction scores, and social isolation ratings.</a:t>
            </a:r>
          </a:p>
          <a:p>
            <a:pPr lvl="1" algn="just"/>
            <a:r>
              <a:rPr lang="en-US" sz="2000" dirty="0"/>
              <a:t>Analyze Trends: Identify which job roles, industries, or demographics are most affected by remote work challenges.</a:t>
            </a:r>
          </a:p>
          <a:p>
            <a:pPr lvl="1" algn="just"/>
            <a:r>
              <a:rPr lang="en-US" sz="2000" dirty="0"/>
              <a:t>Discover Correlations: Uncover relationships between work location and mental health, or between satisfaction and stress.</a:t>
            </a:r>
          </a:p>
          <a:p>
            <a:pPr algn="just"/>
            <a:r>
              <a:rPr lang="en-US" sz="2000" dirty="0"/>
              <a:t>Actionable Insights: The dashboard will highlight key risk areas, enabling targeted interventions like mental health resources for high-stress groups or policy adjustments for isolated remote workers.</a:t>
            </a:r>
          </a:p>
          <a:p>
            <a:pPr marL="0" indent="0">
              <a:spcBef>
                <a:spcPct val="20000"/>
              </a:spcBef>
              <a:spcAft>
                <a:spcPts val="600"/>
              </a:spcAft>
              <a:buNone/>
            </a:pPr>
            <a:endParaRPr lang="en-GB"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361440"/>
            <a:ext cx="10515600" cy="4606106"/>
          </a:xfrm>
        </p:spPr>
        <p:txBody>
          <a:bodyPr vert="horz" lIns="91440" tIns="45720" rIns="91440" bIns="45720" rtlCol="0">
            <a:noAutofit/>
          </a:bodyPr>
          <a:lstStyle/>
          <a:p>
            <a:pPr marL="0" indent="0" algn="just">
              <a:buNone/>
            </a:pPr>
            <a:r>
              <a:rPr lang="en-US" sz="2200" dirty="0"/>
              <a:t>The project follows a structured BI development lifecycle to transform raw data into actionable insights.</a:t>
            </a:r>
          </a:p>
          <a:p>
            <a:pPr algn="just"/>
            <a:r>
              <a:rPr lang="en-US" sz="2200" b="1" dirty="0"/>
              <a:t>System Requirements:</a:t>
            </a:r>
            <a:endParaRPr lang="en-US" sz="2200" dirty="0"/>
          </a:p>
          <a:p>
            <a:pPr lvl="1" algn="just"/>
            <a:r>
              <a:rPr lang="en-US" sz="2200" dirty="0"/>
              <a:t>Software: Microsoft Power BI Desktop, Power BI Service (for sharing).</a:t>
            </a:r>
          </a:p>
          <a:p>
            <a:pPr lvl="1" algn="just"/>
            <a:r>
              <a:rPr lang="en-US" sz="2200" dirty="0"/>
              <a:t>Data Source: CSV file containing employee survey data (from Kaggle).</a:t>
            </a:r>
          </a:p>
          <a:p>
            <a:pPr lvl="1" algn="just"/>
            <a:r>
              <a:rPr lang="en-US" sz="2200" dirty="0"/>
              <a:t>System: A computer with Windows OS (recommended for Power BI).</a:t>
            </a:r>
          </a:p>
          <a:p>
            <a:pPr algn="just"/>
            <a:r>
              <a:rPr lang="en-US" sz="2200" b="1" dirty="0"/>
              <a:t>Library/ Tools Required to Build the Model:</a:t>
            </a:r>
            <a:endParaRPr lang="en-US" sz="2200" dirty="0"/>
          </a:p>
          <a:p>
            <a:pPr lvl="1" algn="just"/>
            <a:r>
              <a:rPr lang="en-US" sz="2200" dirty="0"/>
              <a:t>Power Query (M Language): For data extraction, transformation, and loading (ETL). Used to clean data, handle missing values, and create new calculated columns.</a:t>
            </a:r>
          </a:p>
          <a:p>
            <a:pPr lvl="1" algn="just"/>
            <a:r>
              <a:rPr lang="en-US" sz="2200" dirty="0"/>
              <a:t>DAX (Data Analysis Expressions): To create calculated measures and columns for complex aggregations, like average stress level by industry or satisfaction percentage.</a:t>
            </a:r>
          </a:p>
          <a:p>
            <a:pPr lvl="1" algn="just"/>
            <a:r>
              <a:rPr lang="en-US" sz="2200" dirty="0"/>
              <a:t>Power BI Visualizations: To build interactive charts, graphs, and slicers for the dashboard.</a:t>
            </a:r>
          </a:p>
          <a:p>
            <a:pPr algn="just"/>
            <a:br>
              <a:rPr lang="en-US" sz="2200" dirty="0"/>
            </a:b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Autofit/>
          </a:bodyPr>
          <a:lstStyle/>
          <a:p>
            <a:pPr marL="0" indent="0">
              <a:buNone/>
            </a:pPr>
            <a:r>
              <a:rPr lang="en-US" sz="1600" b="1" dirty="0"/>
              <a:t>Data Processing &amp; Analysis (The "Algorithm"):</a:t>
            </a:r>
          </a:p>
          <a:p>
            <a:pPr marL="0" indent="0" algn="just">
              <a:buNone/>
            </a:pPr>
            <a:r>
              <a:rPr lang="en-US" sz="1600" dirty="0"/>
              <a:t>The core of this BI project is not a traditional machine learning algorithm but a series of data modeling and analytical steps performed by Power BI.</a:t>
            </a:r>
          </a:p>
          <a:p>
            <a:pPr algn="just"/>
            <a:r>
              <a:rPr lang="en-US" sz="1600" dirty="0"/>
              <a:t>Data Input: Employee ID, Age, Gender, Job Role, Industry, Work Location, Stress Level, Mental Health Condition, Social Isolation Rating, Satisfaction with Remote Work.</a:t>
            </a:r>
          </a:p>
          <a:p>
            <a:pPr algn="just"/>
            <a:r>
              <a:rPr lang="en-US" sz="1600" dirty="0"/>
              <a:t>Data Modeling: Creating relationships between different data tables (if any) and structuring data for analysis.</a:t>
            </a:r>
          </a:p>
          <a:p>
            <a:pPr algn="just"/>
            <a:r>
              <a:rPr lang="en-US" sz="1600" dirty="0"/>
              <a:t>Calculated Measures (DAX): Using DAX formulas to create key metrics:</a:t>
            </a:r>
          </a:p>
          <a:p>
            <a:pPr lvl="1" algn="just"/>
            <a:r>
              <a:rPr lang="en-US" sz="1600" dirty="0"/>
              <a:t>Avg Stress Level = AVERAGE('Table'[</a:t>
            </a:r>
            <a:r>
              <a:rPr lang="en-US" sz="1600" dirty="0" err="1"/>
              <a:t>Stress_Level_Number</a:t>
            </a:r>
            <a:r>
              <a:rPr lang="en-US" sz="1600" dirty="0"/>
              <a:t>])</a:t>
            </a:r>
          </a:p>
          <a:p>
            <a:pPr lvl="1" algn="just"/>
            <a:r>
              <a:rPr lang="en-US" sz="1600" dirty="0"/>
              <a:t>% Satisfied = DIVIDE(CALCULATE(COUNT('Table'[</a:t>
            </a:r>
            <a:r>
              <a:rPr lang="en-US" sz="1600" dirty="0" err="1"/>
              <a:t>Employee_ID</a:t>
            </a:r>
            <a:r>
              <a:rPr lang="en-US" sz="1600" dirty="0"/>
              <a:t>]), 'Table'[Satisfaction] = "Satisfied"), COUNT('Table'[</a:t>
            </a:r>
            <a:r>
              <a:rPr lang="en-US" sz="1600" dirty="0" err="1"/>
              <a:t>Employee_ID</a:t>
            </a:r>
            <a:r>
              <a:rPr lang="en-US" sz="1600" dirty="0"/>
              <a:t>]))</a:t>
            </a:r>
          </a:p>
          <a:p>
            <a:pPr algn="just"/>
            <a:r>
              <a:rPr lang="en-US" sz="1600" b="1" dirty="0"/>
              <a:t>Analysis Process:</a:t>
            </a:r>
            <a:r>
              <a:rPr lang="en-US" sz="1600" dirty="0"/>
              <a:t> Power BI aggregates and filters the data based on user interactions (slicers, filters) to dynamically calculate and display the results.</a:t>
            </a:r>
          </a:p>
          <a:p>
            <a:pPr marL="0" indent="0" algn="just">
              <a:buNone/>
            </a:pPr>
            <a:r>
              <a:rPr lang="en-US" sz="1600" b="1" dirty="0"/>
              <a:t>Deployment:</a:t>
            </a:r>
            <a:endParaRPr lang="en-US" sz="1600" dirty="0"/>
          </a:p>
          <a:p>
            <a:pPr algn="just"/>
            <a:r>
              <a:rPr lang="en-US" sz="1600" dirty="0"/>
              <a:t>Publish the final Power BI report to the Power BI Service (cloud).</a:t>
            </a:r>
          </a:p>
          <a:p>
            <a:pPr algn="just"/>
            <a:r>
              <a:rPr lang="en-US" sz="1600" dirty="0"/>
              <a:t>Set up scheduled data refreshes to keep the dashboard updated with new survey data.</a:t>
            </a:r>
          </a:p>
          <a:p>
            <a:pPr algn="just"/>
            <a:r>
              <a:rPr lang="en-US" sz="1600" dirty="0"/>
              <a:t>Create secure dashboards and share them with relevant stakeholders (HR, team leads, management) via web links or Power BI mobile apps.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2FCFAB-9CAC-0395-4FA5-2952CDB33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E5B41-488B-8E86-3A7F-3577FF9634E0}"/>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F01ED6F7-6480-33A0-E0F5-9C5AE9EA898B}"/>
              </a:ext>
            </a:extLst>
          </p:cNvPr>
          <p:cNvSpPr>
            <a:spLocks noGrp="1"/>
          </p:cNvSpPr>
          <p:nvPr>
            <p:ph idx="1"/>
          </p:nvPr>
        </p:nvSpPr>
        <p:spPr>
          <a:xfrm>
            <a:off x="338137" y="1198882"/>
            <a:ext cx="10515600" cy="5344158"/>
          </a:xfrm>
        </p:spPr>
        <p:txBody>
          <a:bodyPr vert="horz" lIns="91440" tIns="45720" rIns="91440" bIns="45720" rtlCol="0">
            <a:normAutofit/>
          </a:bodyPr>
          <a:lstStyle/>
          <a:p>
            <a:pPr marL="0" indent="0">
              <a:buNone/>
            </a:pPr>
            <a:r>
              <a:rPr lang="en-IN" sz="2000" b="1" dirty="0"/>
              <a:t>Result: Interactive Dashboard - Overview</a:t>
            </a:r>
            <a:endParaRPr lang="en-US" sz="2000" dirty="0"/>
          </a:p>
          <a:p>
            <a:pPr marL="0" indent="0" algn="just">
              <a:buNone/>
            </a:pPr>
            <a:r>
              <a:rPr lang="en-US" sz="1500" dirty="0"/>
              <a:t>The developed Power BI dashboard provides a comprehensive overview of employee wellbeing. Key visuals from the report are shown below.</a:t>
            </a:r>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buNone/>
            </a:pPr>
            <a:endParaRPr lang="en-US" sz="1500" b="1" dirty="0"/>
          </a:p>
          <a:p>
            <a:pPr marL="0" indent="0" algn="just">
              <a:buNone/>
            </a:pPr>
            <a:r>
              <a:rPr lang="en-US" sz="1500" b="1" dirty="0"/>
              <a:t>Caption:</a:t>
            </a:r>
            <a:r>
              <a:rPr lang="en-US" sz="1500" dirty="0"/>
              <a:t> The dashboard provides an at-a-glance view of employee distribution by work location, overall satisfaction versus stress levels, and breaks down satisfaction by job role and industry, enabling quick identification of potential problem areas.</a:t>
            </a:r>
          </a:p>
        </p:txBody>
      </p:sp>
      <p:pic>
        <p:nvPicPr>
          <p:cNvPr id="5" name="Picture 4">
            <a:extLst>
              <a:ext uri="{FF2B5EF4-FFF2-40B4-BE49-F238E27FC236}">
                <a16:creationId xmlns:a16="http://schemas.microsoft.com/office/drawing/2014/main" id="{40D563E6-3628-EBA3-6371-706292F85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1280" y="1965800"/>
            <a:ext cx="6390640" cy="3693319"/>
          </a:xfrm>
          <a:prstGeom prst="rect">
            <a:avLst/>
          </a:prstGeom>
        </p:spPr>
      </p:pic>
    </p:spTree>
    <p:extLst>
      <p:ext uri="{BB962C8B-B14F-4D97-AF65-F5344CB8AC3E}">
        <p14:creationId xmlns:p14="http://schemas.microsoft.com/office/powerpoint/2010/main" val="3865494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8DED8-D731-6B2C-4570-9BA48BB41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D5BBF-B4E3-274E-F511-E7FEE02F7EBA}"/>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a:extLst>
              <a:ext uri="{FF2B5EF4-FFF2-40B4-BE49-F238E27FC236}">
                <a16:creationId xmlns:a16="http://schemas.microsoft.com/office/drawing/2014/main" id="{5B4A0E7B-2929-E48E-6D66-7E356BC6B50F}"/>
              </a:ext>
            </a:extLst>
          </p:cNvPr>
          <p:cNvSpPr>
            <a:spLocks noGrp="1"/>
          </p:cNvSpPr>
          <p:nvPr>
            <p:ph idx="1"/>
          </p:nvPr>
        </p:nvSpPr>
        <p:spPr>
          <a:xfrm>
            <a:off x="338137" y="1198882"/>
            <a:ext cx="10515600" cy="5344158"/>
          </a:xfrm>
        </p:spPr>
        <p:txBody>
          <a:bodyPr vert="horz" lIns="91440" tIns="45720" rIns="91440" bIns="45720" rtlCol="0">
            <a:normAutofit lnSpcReduction="10000"/>
          </a:bodyPr>
          <a:lstStyle/>
          <a:p>
            <a:pPr marL="0" indent="0">
              <a:buNone/>
            </a:pPr>
            <a:r>
              <a:rPr lang="en-IN" sz="2000" b="1" dirty="0"/>
              <a:t>Result: Interactive Dashboard - Drill-Down Analysis</a:t>
            </a:r>
          </a:p>
          <a:p>
            <a:pPr marL="0" indent="0" algn="just">
              <a:buNone/>
            </a:pPr>
            <a:r>
              <a:rPr lang="en-US" sz="1500" dirty="0"/>
              <a:t>The dashboard allows users to dive deeper into specific relationships and explore data across multiple dimensions.</a:t>
            </a:r>
          </a:p>
          <a:p>
            <a:pPr marL="0" indent="0" algn="just">
              <a:buNone/>
            </a:pPr>
            <a:br>
              <a:rPr lang="en-US" sz="1600" dirty="0"/>
            </a:b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endParaRPr lang="en-US" sz="1500" b="1" dirty="0"/>
          </a:p>
          <a:p>
            <a:pPr marL="0" indent="0" algn="just">
              <a:buNone/>
            </a:pPr>
            <a:r>
              <a:rPr lang="en-US" sz="1600" b="1" dirty="0"/>
              <a:t>Caption:</a:t>
            </a:r>
            <a:r>
              <a:rPr lang="en-US" sz="1600" dirty="0"/>
              <a:t> Detailed analysis views reveal correlations, such as the prevalence of specific mental health conditions across different job roles, the impact of work location on social isolation, and the strong link between social isolation and job satisfaction.</a:t>
            </a:r>
          </a:p>
        </p:txBody>
      </p:sp>
      <p:pic>
        <p:nvPicPr>
          <p:cNvPr id="6" name="Picture 5">
            <a:extLst>
              <a:ext uri="{FF2B5EF4-FFF2-40B4-BE49-F238E27FC236}">
                <a16:creationId xmlns:a16="http://schemas.microsoft.com/office/drawing/2014/main" id="{86E385B8-1B92-886A-D55C-48C8641EF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0" y="2042160"/>
            <a:ext cx="6573520" cy="3616958"/>
          </a:xfrm>
          <a:prstGeom prst="rect">
            <a:avLst/>
          </a:prstGeom>
        </p:spPr>
      </p:pic>
    </p:spTree>
    <p:extLst>
      <p:ext uri="{BB962C8B-B14F-4D97-AF65-F5344CB8AC3E}">
        <p14:creationId xmlns:p14="http://schemas.microsoft.com/office/powerpoint/2010/main" val="217531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lgn="just">
              <a:buNone/>
            </a:pPr>
            <a:r>
              <a:rPr lang="en-US" sz="2000" dirty="0"/>
              <a:t>The Remote Work Productivity and Wellbeing Tracker successfully demonstrates the power of Business Intelligence in addressing modern workforce challenges. By consolidating and visualizing complex survey data, the dashboard provides clear, actionable insights that were previously hidden.</a:t>
            </a:r>
          </a:p>
          <a:p>
            <a:pPr algn="just"/>
            <a:r>
              <a:rPr lang="en-US" sz="2000" dirty="0"/>
              <a:t>The project confirms that work location, job role, and industry significantly influence employee stress, satisfaction, and feelings of isolation.</a:t>
            </a:r>
          </a:p>
          <a:p>
            <a:pPr algn="just"/>
            <a:r>
              <a:rPr lang="en-US" sz="2000" dirty="0"/>
              <a:t>For instance, the data suggests that remote workers report slightly lower average satisfaction but a higher count of high stress compared to onsite workers, indicating a complex relationship that warrants further qualitative investigation.</a:t>
            </a:r>
          </a:p>
          <a:p>
            <a:pPr algn="just"/>
            <a:r>
              <a:rPr lang="en-US" sz="2000" dirty="0"/>
              <a:t>This tool empowers HR and management to move from anecdotal evidence to data-driven strategies, enabling targeted support for at-risk groups and fostering a more supportive and productive work culture. It validates the importance of continuous monitoring of employee wellbeing in the evolving landscape of 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Autofit/>
          </a:bodyPr>
          <a:lstStyle/>
          <a:p>
            <a:pPr marL="0" indent="0" algn="just">
              <a:spcBef>
                <a:spcPct val="20000"/>
              </a:spcBef>
              <a:spcAft>
                <a:spcPts val="600"/>
              </a:spcAft>
              <a:buNone/>
            </a:pPr>
            <a:endParaRPr lang="en-US" sz="2000" dirty="0">
              <a:latin typeface="Franklin Gothic Book" panose="020B0503020102020204"/>
            </a:endParaRPr>
          </a:p>
          <a:p>
            <a:pPr marL="0" indent="0" algn="just">
              <a:buNone/>
            </a:pPr>
            <a:r>
              <a:rPr lang="en-US" sz="2000" dirty="0"/>
              <a:t>The current tracker provides a strong foundation, which can be enhanced in several ways:</a:t>
            </a:r>
          </a:p>
          <a:p>
            <a:pPr algn="just"/>
            <a:r>
              <a:rPr lang="en-US" sz="2000" dirty="0"/>
              <a:t>Predictive Analytics: Integrate machine learning models (e.g., using Python scripts in Power BI) to predict employee risk of high stress or burnout based on current data patterns.</a:t>
            </a:r>
          </a:p>
          <a:p>
            <a:pPr algn="just"/>
            <a:r>
              <a:rPr lang="en-US" sz="2000" dirty="0"/>
              <a:t>Real-time Data Integration: Incorporate data from collaboration tools (like Microsoft Viva Insights) or wearable devices to provide real-time insights into work patterns and physiological stress indicators (with privacy safeguards).</a:t>
            </a:r>
          </a:p>
          <a:p>
            <a:pPr algn="just"/>
            <a:r>
              <a:rPr lang="en-US" sz="2000" dirty="0"/>
              <a:t>Expanded Data Sources: Include qualitative data from employee surveys and feedback forms using natural language processing (NLP) to analyze sentiment.</a:t>
            </a:r>
          </a:p>
          <a:p>
            <a:pPr algn="just"/>
            <a:r>
              <a:rPr lang="en-US" sz="2000" dirty="0"/>
              <a:t>Benchmarking: Compare the organization's metrics against industry benchmarks to understand the relative standing.</a:t>
            </a:r>
          </a:p>
          <a:p>
            <a:pPr algn="just"/>
            <a:r>
              <a:rPr lang="en-US" sz="2000" dirty="0"/>
              <a:t>Personalized Dashboards: Create individual employee dashboards where they can anonymously track their own wellbeing trends and receive personalized recommendations.</a:t>
            </a:r>
          </a:p>
          <a:p>
            <a:pPr marL="0" indent="0" algn="just">
              <a:buNone/>
            </a:pPr>
            <a:endParaRPr lang="en-GB"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US" sz="2200" dirty="0"/>
              <a:t>Kaggle Dataset: Remote Work &amp; Mental Health. Available at: </a:t>
            </a:r>
            <a:r>
              <a:rPr lang="en-US" sz="2200" dirty="0">
                <a:hlinkClick r:id="rId2"/>
              </a:rPr>
              <a:t>https://www.kaggle.com/datasets/waqi786/remote-work-and-mental-health</a:t>
            </a:r>
            <a:endParaRPr lang="en-US" sz="2200" dirty="0"/>
          </a:p>
          <a:p>
            <a:pPr algn="just"/>
            <a:r>
              <a:rPr lang="en-US" sz="2200" dirty="0"/>
              <a:t>Microsoft Power BI Documentation: https://learn.microsoft.com/en-us/power-bi/</a:t>
            </a:r>
          </a:p>
          <a:p>
            <a:pPr algn="just"/>
            <a:r>
              <a:rPr lang="en-US" sz="2200" dirty="0"/>
              <a:t>Research articles on remote work and mental health (e.g., from APA, SHRM).</a:t>
            </a:r>
          </a:p>
          <a:p>
            <a:pPr algn="just"/>
            <a:r>
              <a:rPr lang="en-US" sz="2200" dirty="0"/>
              <a:t>Online tutorials and communities for DAX and Power Query best practices.</a:t>
            </a:r>
          </a:p>
          <a:p>
            <a:pPr marL="0" indent="0">
              <a:buNone/>
            </a:pPr>
            <a:r>
              <a:rPr lang="en-IN" sz="2200" dirty="0">
                <a:latin typeface="Franklin Gothic Book" panose="020B0503020102020204"/>
              </a:rPr>
              <a:t>GitHub Link:</a:t>
            </a:r>
            <a:r>
              <a:rPr lang="en-IN" sz="2200" dirty="0">
                <a:solidFill>
                  <a:srgbClr val="0070C0"/>
                </a:solidFill>
                <a:latin typeface="Franklin Gothic Book" panose="020B0503020102020204"/>
              </a:rPr>
              <a:t> </a:t>
            </a:r>
            <a:r>
              <a:rPr lang="en-IN" sz="2200" dirty="0" err="1">
                <a:solidFill>
                  <a:srgbClr val="0070C0"/>
                </a:solidFill>
                <a:latin typeface="Franklin Gothic Book" panose="020B0503020102020204"/>
                <a:hlinkClick r:id="rId3"/>
              </a:rPr>
              <a:t>Sahil_Patil_Github</a:t>
            </a:r>
            <a:r>
              <a:rPr lang="en-IN" sz="2200" dirty="0">
                <a:solidFill>
                  <a:srgbClr val="0070C0"/>
                </a:solidFill>
                <a:latin typeface="Franklin Gothic Book" panose="020B0503020102020204"/>
                <a:hlinkClick r:id="rId3"/>
              </a:rPr>
              <a:t> </a:t>
            </a:r>
            <a:endParaRPr lang="en-IN" sz="2200" dirty="0">
              <a:latin typeface="Franklin Gothic Book" panose="020B05030201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1265</Words>
  <Application>Microsoft Office PowerPoint</Application>
  <PresentationFormat>Widescreen</PresentationFormat>
  <Paragraphs>104</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sahil patil</cp:lastModifiedBy>
  <cp:revision>107</cp:revision>
  <dcterms:created xsi:type="dcterms:W3CDTF">2024-05-21T11:55:00Z</dcterms:created>
  <dcterms:modified xsi:type="dcterms:W3CDTF">2026-03-09T10:58:36Z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